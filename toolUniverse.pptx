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7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3.png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notesSlide" Target="../notesSlides/notesSlide6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194560"/>
            <a:ext cx="5669280" cy="5669280"/>
          </a:xfrm>
          <a:prstGeom prst="ellipse">
            <a:avLst/>
          </a:prstGeom>
          <a:solidFill>
            <a:srgbClr val="065A82">
              <a:alpha val="22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424160" y="-1188720"/>
            <a:ext cx="3840480" cy="3840480"/>
          </a:xfrm>
          <a:prstGeom prst="ellipse">
            <a:avLst/>
          </a:prstGeom>
          <a:solidFill>
            <a:srgbClr val="1C7293">
              <a:alpha val="30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-1828800" y="3840480"/>
            <a:ext cx="4572000" cy="4572000"/>
          </a:xfrm>
          <a:prstGeom prst="ellipse">
            <a:avLst/>
          </a:prstGeom>
          <a:solidFill>
            <a:srgbClr val="065A82">
              <a:alpha val="18000"/>
            </a:srgbClr>
          </a:solidFill>
        </p:spPr>
      </p:sp>
      <p:sp>
        <p:nvSpPr>
          <p:cNvPr id="5" name="Text 3"/>
          <p:cNvSpPr/>
          <p:nvPr/>
        </p:nvSpPr>
        <p:spPr>
          <a:xfrm>
            <a:off x="868680" y="1508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42416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Build a Tool Specification </a:t>
            </a:r>
            <a:r>
              <a:rPr lang="en-US" sz="4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Discoverer &amp; Optimizer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41248" y="297180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Discoverer + Optimizer for reliable LLM tool-use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68680" y="3703320"/>
            <a:ext cx="2926080" cy="0"/>
          </a:xfrm>
          <a:prstGeom prst="line">
            <a:avLst/>
          </a:prstGeom>
          <a:noFill/>
          <a:ln w="31750">
            <a:solidFill>
              <a:srgbClr val="E0A4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9776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ToolUniverse</a:t>
            </a:r>
            <a:r>
              <a:rPr lang="en-US" sz="1350" dirty="0">
                <a:solidFill>
                  <a:srgbClr val="6E7E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Gao et al., arXiv:2509.23426  ·  Harvard Medical School, 2025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bottleneck isn't reasoning — it's the tool spec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can only invoke a tool correctly if its </a:t>
            </a: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</a:t>
            </a:r>
            <a:r>
              <a:rPr lang="en-US" sz="17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clear.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6766560" cy="676656"/>
          </a:xfrm>
          <a:prstGeom prst="roundRect">
            <a:avLst>
              <a:gd name="adj" fmla="val 10811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60320"/>
            <a:ext cx="310896" cy="310896"/>
          </a:xfrm>
          <a:prstGeom prst="ellipse">
            <a:avLst/>
          </a:prstGeom>
          <a:solidFill>
            <a:srgbClr val="C44536"/>
          </a:solidFill>
        </p:spPr>
      </p:sp>
      <p:sp>
        <p:nvSpPr>
          <p:cNvPr id="7" name="Text 5"/>
          <p:cNvSpPr/>
          <p:nvPr/>
        </p:nvSpPr>
        <p:spPr>
          <a:xfrm>
            <a:off x="777240" y="256032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377440"/>
            <a:ext cx="5943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vague parameter name  </a:t>
            </a:r>
            <a:r>
              <a:rPr lang="en-US" sz="14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model guesses the wrong argument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6766560" cy="676656"/>
          </a:xfrm>
          <a:prstGeom prst="roundRect">
            <a:avLst>
              <a:gd name="adj" fmla="val 10811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401568"/>
            <a:ext cx="310896" cy="310896"/>
          </a:xfrm>
          <a:prstGeom prst="ellipse">
            <a:avLst/>
          </a:prstGeom>
          <a:solidFill>
            <a:srgbClr val="C44536"/>
          </a:solidFill>
        </p:spPr>
      </p:sp>
      <p:sp>
        <p:nvSpPr>
          <p:cNvPr id="11" name="Text 9"/>
          <p:cNvSpPr/>
          <p:nvPr/>
        </p:nvSpPr>
        <p:spPr>
          <a:xfrm>
            <a:off x="777240" y="340156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218688"/>
            <a:ext cx="5943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ambiguous description  </a:t>
            </a:r>
            <a:r>
              <a:rPr lang="en-US" sz="14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it calls a different tool entirely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59936"/>
            <a:ext cx="6766560" cy="676656"/>
          </a:xfrm>
          <a:prstGeom prst="roundRect">
            <a:avLst>
              <a:gd name="adj" fmla="val 10811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242816"/>
            <a:ext cx="310896" cy="310896"/>
          </a:xfrm>
          <a:prstGeom prst="ellipse">
            <a:avLst/>
          </a:prstGeom>
          <a:solidFill>
            <a:srgbClr val="C44536"/>
          </a:solidFill>
        </p:spPr>
      </p:sp>
      <p:sp>
        <p:nvSpPr>
          <p:cNvPr id="15" name="Text 13"/>
          <p:cNvSpPr/>
          <p:nvPr/>
        </p:nvSpPr>
        <p:spPr>
          <a:xfrm>
            <a:off x="777240" y="42428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4059936"/>
            <a:ext cx="594360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wrong type  </a:t>
            </a:r>
            <a:r>
              <a:rPr lang="en-US" sz="14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call is malformed and fails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0" y="1691640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  <p:txBody>
          <a:bodyPr/>
          <a:p>
            <a:r>
              <a:rPr lang="en-US"/>
              <a:t>z</a:t>
            </a:r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955280" y="1920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system, in one 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955280" y="2423160"/>
            <a:ext cx="338328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Discoverer</a:t>
            </a:r>
            <a:endParaRPr lang="en-US" sz="1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→ structured spec + stub</a:t>
            </a:r>
            <a:endParaRPr lang="en-US" sz="1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5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feedback → a more reliable spec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55280" y="4526280"/>
            <a:ext cx="3383280" cy="0"/>
          </a:xfrm>
          <a:prstGeom prst="line">
            <a:avLst/>
          </a:prstGeom>
          <a:noFill/>
          <a:ln w="12700">
            <a:solidFill>
              <a:srgbClr val="3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HOW DOES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One pipeline, two halves, eight components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9EB3C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9464" y="2331720"/>
            <a:ext cx="274320" cy="0"/>
          </a:xfrm>
          <a:prstGeom prst="line">
            <a:avLst/>
          </a:prstGeom>
          <a:noFill/>
          <a:ln w="2540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98648" y="17830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98648" y="1783080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DISCOVERER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19472" y="2331720"/>
            <a:ext cx="274320" cy="0"/>
          </a:xfrm>
          <a:prstGeom prst="line">
            <a:avLst/>
          </a:prstGeom>
          <a:noFill/>
          <a:ln w="2540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248656" y="17830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9EB3C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48656" y="1783080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ToolSpec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stub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69480" y="2331720"/>
            <a:ext cx="274320" cy="0"/>
          </a:xfrm>
          <a:prstGeom prst="line">
            <a:avLst/>
          </a:prstGeom>
          <a:noFill/>
          <a:ln w="2540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598664" y="17830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1C7293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98664" y="1783080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OPTIMIZER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19488" y="2331720"/>
            <a:ext cx="274320" cy="0"/>
          </a:xfrm>
          <a:prstGeom prst="line">
            <a:avLst/>
          </a:prstGeom>
          <a:noFill/>
          <a:ln w="2540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948672" y="1783080"/>
            <a:ext cx="1965960" cy="1097280"/>
          </a:xfrm>
          <a:prstGeom prst="roundRect">
            <a:avLst>
              <a:gd name="adj" fmla="val 6667"/>
            </a:avLst>
          </a:prstGeom>
          <a:solidFill>
            <a:srgbClr val="E0A458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948672" y="1783080"/>
            <a:ext cx="196596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spec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report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2004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Discoverer components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352044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PatternRetriever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SpecGenerator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StubGenerator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StaticValidator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09360" y="3200400"/>
            <a:ext cx="51206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components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352044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TestPromptGen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InvocationTester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FailureDiagnoser</a:t>
            </a:r>
            <a:endParaRPr lang="en-US" sz="13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3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SpecRewriter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2120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7240" y="5321808"/>
            <a:ext cx="106070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decisions I committed to early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77240" y="5650992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Disk-cache every LLM call</a:t>
            </a:r>
            <a:r>
              <a:rPr lang="en-US" sz="12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(reproducible, never pay twice) 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Judge correctness with pure logic</a:t>
            </a:r>
            <a:r>
              <a:rPr lang="en-US" sz="12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 LLM-as-judge)   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Diagnose to the field path</a:t>
            </a:r>
            <a:r>
              <a:rPr lang="en-US" sz="12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(parameters[0].type, not “bad spec”)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Discoverer — what each stage produces &amp; passes 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73736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173736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tool_descriptions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31720" y="2377440"/>
            <a:ext cx="310896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17373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862072" y="1883664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9" name="Text 7"/>
          <p:cNvSpPr/>
          <p:nvPr/>
        </p:nvSpPr>
        <p:spPr>
          <a:xfrm>
            <a:off x="2862072" y="18836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40480" y="19202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9AA7B5"/>
          </a:solidFill>
        </p:spPr>
      </p:sp>
      <p:sp>
        <p:nvSpPr>
          <p:cNvPr id="11" name="Text 9"/>
          <p:cNvSpPr/>
          <p:nvPr/>
        </p:nvSpPr>
        <p:spPr>
          <a:xfrm>
            <a:off x="3840480" y="192024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07208" y="2340864"/>
            <a:ext cx="18379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PatternRetriever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07208" y="2615184"/>
            <a:ext cx="1837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pattern_retriever.py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07208" y="2871216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3 seed specs,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by keyword overlap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26180" y="3310128"/>
            <a:ext cx="0" cy="256032"/>
          </a:xfrm>
          <a:prstGeom prst="line">
            <a:avLst/>
          </a:prstGeom>
          <a:noFill/>
          <a:ln w="1905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88920" y="3602736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EEF2F6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07208" y="3602736"/>
            <a:ext cx="18379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top-3 seeds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 memory)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91456" y="2514600"/>
            <a:ext cx="338328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66360" y="17373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330952" y="1883664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1" name="Text 19"/>
          <p:cNvSpPr/>
          <p:nvPr/>
        </p:nvSpPr>
        <p:spPr>
          <a:xfrm>
            <a:off x="5330952" y="18836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09360" y="19202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1C7293"/>
          </a:solidFill>
        </p:spPr>
      </p:sp>
      <p:sp>
        <p:nvSpPr>
          <p:cNvPr id="23" name="Text 21"/>
          <p:cNvSpPr/>
          <p:nvPr/>
        </p:nvSpPr>
        <p:spPr>
          <a:xfrm>
            <a:off x="6309360" y="192024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276088" y="2340864"/>
            <a:ext cx="18379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SpecGenerator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76088" y="2615184"/>
            <a:ext cx="1837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spec_generator.py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276088" y="2871216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prompt →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spec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195060" y="3310128"/>
            <a:ext cx="0" cy="256032"/>
          </a:xfrm>
          <a:prstGeom prst="line">
            <a:avLst/>
          </a:prstGeom>
          <a:noFill/>
          <a:ln w="1905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257800" y="3602736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BF1E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276088" y="3602736"/>
            <a:ext cx="18379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discovered_specs/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{name}.json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260336" y="2514600"/>
            <a:ext cx="338328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635240" y="17373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799832" y="1883664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33" name="Text 31"/>
          <p:cNvSpPr/>
          <p:nvPr/>
        </p:nvSpPr>
        <p:spPr>
          <a:xfrm>
            <a:off x="7799832" y="18836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778240" y="19202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9AA7B5"/>
          </a:solidFill>
        </p:spPr>
      </p:sp>
      <p:sp>
        <p:nvSpPr>
          <p:cNvPr id="35" name="Text 33"/>
          <p:cNvSpPr/>
          <p:nvPr/>
        </p:nvSpPr>
        <p:spPr>
          <a:xfrm>
            <a:off x="8778240" y="192024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44968" y="2340864"/>
            <a:ext cx="18379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StubGenerator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744968" y="2615184"/>
            <a:ext cx="1837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stub_generator.py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7744968" y="2871216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signature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docstring from spec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663940" y="3310128"/>
            <a:ext cx="0" cy="256032"/>
          </a:xfrm>
          <a:prstGeom prst="line">
            <a:avLst/>
          </a:prstGeom>
          <a:noFill/>
          <a:ln w="1905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7726680" y="3602736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BF1E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744968" y="3602736"/>
            <a:ext cx="18379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discovered_stubs/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{name}.py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729216" y="2514600"/>
            <a:ext cx="338328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104120" y="1737360"/>
            <a:ext cx="2057400" cy="1554480"/>
          </a:xfrm>
          <a:prstGeom prst="roundRect">
            <a:avLst>
              <a:gd name="adj" fmla="val 470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268712" y="1883664"/>
            <a:ext cx="402336" cy="402336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45" name="Text 43"/>
          <p:cNvSpPr/>
          <p:nvPr/>
        </p:nvSpPr>
        <p:spPr>
          <a:xfrm>
            <a:off x="10268712" y="1883664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1247120" y="192024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9AA7B5"/>
          </a:solidFill>
        </p:spPr>
      </p:sp>
      <p:sp>
        <p:nvSpPr>
          <p:cNvPr id="47" name="Text 45"/>
          <p:cNvSpPr/>
          <p:nvPr/>
        </p:nvSpPr>
        <p:spPr>
          <a:xfrm>
            <a:off x="11247120" y="1920240"/>
            <a:ext cx="7498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213848" y="2340864"/>
            <a:ext cx="183794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StaticValidator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213848" y="2615184"/>
            <a:ext cx="1837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static_validator.py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213848" y="2871216"/>
            <a:ext cx="1837944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· snake_case 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stub↔spec match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132820" y="3310128"/>
            <a:ext cx="0" cy="256032"/>
          </a:xfrm>
          <a:prstGeom prst="line">
            <a:avLst/>
          </a:prstGeom>
          <a:noFill/>
          <a:ln w="1905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195560" y="3602736"/>
            <a:ext cx="1874520" cy="658368"/>
          </a:xfrm>
          <a:prstGeom prst="roundRect">
            <a:avLst>
              <a:gd name="adj" fmla="val 11111"/>
            </a:avLst>
          </a:prstGeom>
          <a:solidFill>
            <a:srgbClr val="FBF1E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10213848" y="3602736"/>
            <a:ext cx="18379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discovery_report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48640" y="5029200"/>
            <a:ext cx="10972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file written to disk      </a:t>
            </a:r>
            <a:r>
              <a:rPr lang="en-US" sz="1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LLM call (only stage 2)      </a:t>
            </a:r>
            <a:r>
              <a:rPr lang="en-US" sz="1150" dirty="0">
                <a:solidFill>
                  <a:srgbClr val="9AA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1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pure code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11/11 valid specs.  </a:t>
            </a: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discovered_specs/*.json</a:t>
            </a: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become the canonical input for every downstream phase — baseline, optimization, degradation.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pic>
        <p:nvPicPr>
          <p:cNvPr id="58" name="Picture 57" descr="Screenshot 2026-06-02 at 6.48.31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180" y="3170555"/>
            <a:ext cx="2599690" cy="14395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Optimizer — the loop, the guard, the files it writes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286000"/>
            <a:ext cx="16459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discovered_specs/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{name}.json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40280" y="2743200"/>
            <a:ext cx="292608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06040" y="2057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24912" y="2185416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9" name="Text 7"/>
          <p:cNvSpPr/>
          <p:nvPr/>
        </p:nvSpPr>
        <p:spPr>
          <a:xfrm>
            <a:off x="2724912" y="21854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11880" y="2203704"/>
            <a:ext cx="676656" cy="246888"/>
          </a:xfrm>
          <a:prstGeom prst="roundRect">
            <a:avLst>
              <a:gd name="adj" fmla="val 48148"/>
            </a:avLst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3611880" y="2203704"/>
            <a:ext cx="67665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697480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TestPromptGen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test_prompt_generator.py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97480" y="3081528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tricky prompts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(adaptive each round)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71416" y="2743200"/>
            <a:ext cx="31089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818888" y="2057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185416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8" name="Text 16"/>
          <p:cNvSpPr/>
          <p:nvPr/>
        </p:nvSpPr>
        <p:spPr>
          <a:xfrm>
            <a:off x="4937760" y="21854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24728" y="2203704"/>
            <a:ext cx="676656" cy="246888"/>
          </a:xfrm>
          <a:prstGeom prst="roundRect">
            <a:avLst>
              <a:gd name="adj" fmla="val 48148"/>
            </a:avLst>
          </a:prstGeom>
          <a:solidFill>
            <a:srgbClr val="9AA7B5"/>
          </a:solidFill>
        </p:spPr>
      </p:sp>
      <p:sp>
        <p:nvSpPr>
          <p:cNvPr id="20" name="Text 18"/>
          <p:cNvSpPr/>
          <p:nvPr/>
        </p:nvSpPr>
        <p:spPr>
          <a:xfrm>
            <a:off x="5824728" y="2203704"/>
            <a:ext cx="67665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10328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InvocationTester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0328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invocation_tester.py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10328" y="3081528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 vs 10;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name/args/types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84264" y="2743200"/>
            <a:ext cx="31089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31736" y="2057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0608" y="2185416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27" name="Text 25"/>
          <p:cNvSpPr/>
          <p:nvPr/>
        </p:nvSpPr>
        <p:spPr>
          <a:xfrm>
            <a:off x="7150608" y="21854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8037576" y="2203704"/>
            <a:ext cx="676656" cy="246888"/>
          </a:xfrm>
          <a:prstGeom prst="roundRect">
            <a:avLst>
              <a:gd name="adj" fmla="val 48148"/>
            </a:avLst>
          </a:prstGeom>
          <a:solidFill>
            <a:srgbClr val="1C7293"/>
          </a:solidFill>
        </p:spPr>
      </p:sp>
      <p:sp>
        <p:nvSpPr>
          <p:cNvPr id="29" name="Text 27"/>
          <p:cNvSpPr/>
          <p:nvPr/>
        </p:nvSpPr>
        <p:spPr>
          <a:xfrm>
            <a:off x="8037576" y="2203704"/>
            <a:ext cx="67665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23176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FailureDiagnoser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123176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failure_diagnoser.py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123176" y="3081528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 the exact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+ propose fix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897112" y="2743200"/>
            <a:ext cx="310896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244584" y="2057400"/>
            <a:ext cx="1828800" cy="1371600"/>
          </a:xfrm>
          <a:prstGeom prst="roundRect">
            <a:avLst>
              <a:gd name="adj" fmla="val 5333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363456" y="2185416"/>
            <a:ext cx="365760" cy="36576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36" name="Text 34"/>
          <p:cNvSpPr/>
          <p:nvPr/>
        </p:nvSpPr>
        <p:spPr>
          <a:xfrm>
            <a:off x="9363456" y="2185416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10250424" y="2203704"/>
            <a:ext cx="676656" cy="246888"/>
          </a:xfrm>
          <a:prstGeom prst="roundRect">
            <a:avLst>
              <a:gd name="adj" fmla="val 48148"/>
            </a:avLst>
          </a:prstGeom>
          <a:solidFill>
            <a:srgbClr val="9AA7B5"/>
          </a:solidFill>
        </p:spPr>
      </p:sp>
      <p:sp>
        <p:nvSpPr>
          <p:cNvPr id="38" name="Text 36"/>
          <p:cNvSpPr/>
          <p:nvPr/>
        </p:nvSpPr>
        <p:spPr>
          <a:xfrm>
            <a:off x="10250424" y="2203704"/>
            <a:ext cx="676656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9336024" y="258775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SpecRewriter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36024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spec_rewriter.py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9336024" y="3081528"/>
            <a:ext cx="16459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one field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520440" y="3840480"/>
            <a:ext cx="6638544" cy="0"/>
          </a:xfrm>
          <a:prstGeom prst="line">
            <a:avLst/>
          </a:prstGeom>
          <a:noFill/>
          <a:ln w="25400">
            <a:solidFill>
              <a:srgbClr val="E0A458"/>
            </a:solidFill>
            <a:prstDash val="dash"/>
            <a:headEnd type="triangle"/>
          </a:ln>
        </p:spPr>
      </p:sp>
      <p:sp>
        <p:nvSpPr>
          <p:cNvPr id="43" name="Shape 41"/>
          <p:cNvSpPr/>
          <p:nvPr/>
        </p:nvSpPr>
        <p:spPr>
          <a:xfrm>
            <a:off x="3520440" y="3429000"/>
            <a:ext cx="0" cy="41148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158984" y="3429000"/>
            <a:ext cx="0" cy="411480"/>
          </a:xfrm>
          <a:prstGeom prst="line">
            <a:avLst/>
          </a:prstGeom>
          <a:noFill/>
          <a:ln w="25400">
            <a:solidFill>
              <a:srgbClr val="E0A45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08960" y="388620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≤ 3 rounds — re-test on the SAME prompts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869680" y="4526280"/>
            <a:ext cx="2788920" cy="868680"/>
          </a:xfrm>
          <a:prstGeom prst="roundRect">
            <a:avLst>
              <a:gd name="adj" fmla="val 8421"/>
            </a:avLst>
          </a:prstGeom>
          <a:solidFill>
            <a:srgbClr val="EAF5EF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9006840" y="4526280"/>
            <a:ext cx="256032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Do-No-Harm Guard
</a:t>
            </a:r>
            <a:r>
              <a:rPr lang="en-US" sz="9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candidate before commit; reject if it regresses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48640" y="41148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to disk: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48640" y="443484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BF1E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658368" y="45262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optimized_specs/{name}.json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58368" y="49560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improved spec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3337560" y="443484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BF1E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447288" y="45262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optimization_report.json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447288" y="49560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 per tool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126480" y="4434840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FBF1E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36208" y="4526280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9A6A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logs/optimization.jsonl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236208" y="4956048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iteration record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48640" y="562356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777240" y="5623560"/>
            <a:ext cx="1060704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exit states:   </a:t>
            </a:r>
            <a:r>
              <a:rPr lang="en-US" sz="1150" dirty="0">
                <a:solidFill>
                  <a:srgbClr val="7F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target_reached</a:t>
            </a:r>
            <a:r>
              <a:rPr lang="en-US" sz="11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(fixed)   ·   </a:t>
            </a:r>
            <a:r>
              <a:rPr lang="en-US" sz="115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no_harm_guard</a:t>
            </a:r>
            <a:r>
              <a:rPr lang="en-US" sz="11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(stop, would regress)   ·   </a:t>
            </a:r>
            <a:r>
              <a:rPr lang="en-US" sz="11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needs_redesign</a:t>
            </a:r>
            <a:r>
              <a:rPr lang="en-US" sz="11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(escalate to Discoverer)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pic>
        <p:nvPicPr>
          <p:cNvPr id="61" name="Picture 60" descr="Screenshot 2026-06-02 at 6.51.23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63735" y="546735"/>
            <a:ext cx="2414905" cy="1370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HOW DOES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End-to-end: one sentence in, a usable spec out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·  11 plain words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tool that fetches the abstract of a PubMed paper given its PMID”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108960" y="2697480"/>
            <a:ext cx="0" cy="411480"/>
          </a:xfrm>
          <a:prstGeom prst="line">
            <a:avLst/>
          </a:prstGeom>
          <a:noFill/>
          <a:ln w="25400">
            <a:solidFill>
              <a:srgbClr val="6B7689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537960" y="1783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Discoverer added on its own</a:t>
            </a:r>
            <a:endParaRPr lang="en-US" sz="1400" dirty="0"/>
          </a:p>
        </p:txBody>
      </p:sp>
      <p:sp>
        <p:nvSpPr>
          <p:cNvPr id="14" name="Text 12"/>
          <p:cNvSpPr/>
          <p:nvPr>
            <p:custDataLst>
              <p:tags r:id="rId1"/>
            </p:custDataLst>
          </p:nvPr>
        </p:nvSpPr>
        <p:spPr>
          <a:xfrm>
            <a:off x="6537960" y="21945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 name  </a:t>
            </a:r>
            <a:r>
              <a:rPr lang="en-US" sz="13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clean callable identifier</a:t>
            </a:r>
            <a:endParaRPr lang="en-US" sz="1300" dirty="0"/>
          </a:p>
        </p:txBody>
      </p:sp>
      <p:sp>
        <p:nvSpPr>
          <p:cNvPr id="16" name="Text 14"/>
          <p:cNvSpPr/>
          <p:nvPr>
            <p:custDataLst>
              <p:tags r:id="rId2"/>
            </p:custDataLst>
          </p:nvPr>
        </p:nvSpPr>
        <p:spPr>
          <a:xfrm>
            <a:off x="6172200" y="2852928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15"/>
          <p:cNvSpPr/>
          <p:nvPr>
            <p:custDataLst>
              <p:tags r:id="rId3"/>
            </p:custDataLst>
          </p:nvPr>
        </p:nvSpPr>
        <p:spPr>
          <a:xfrm>
            <a:off x="6537960" y="2761488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when-NOT-to-use clause  </a:t>
            </a:r>
            <a:r>
              <a:rPr lang="en-US" sz="13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“use get_metadata for titles” — prevents mis-routing</a:t>
            </a:r>
            <a:endParaRPr lang="en-US" sz="1300" dirty="0"/>
          </a:p>
        </p:txBody>
      </p:sp>
      <p:sp>
        <p:nvSpPr>
          <p:cNvPr id="19" name="Text 17"/>
          <p:cNvSpPr/>
          <p:nvPr>
            <p:custDataLst>
              <p:tags r:id="rId4"/>
            </p:custDataLst>
          </p:nvPr>
        </p:nvSpPr>
        <p:spPr>
          <a:xfrm>
            <a:off x="6172200" y="341985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0" name="Text 18"/>
          <p:cNvSpPr/>
          <p:nvPr>
            <p:custDataLst>
              <p:tags r:id="rId5"/>
            </p:custDataLst>
          </p:nvPr>
        </p:nvSpPr>
        <p:spPr>
          <a:xfrm>
            <a:off x="6537960" y="3328416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hint on the param  </a:t>
            </a:r>
            <a:r>
              <a:rPr lang="en-US" sz="13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“8-digit number, e.g. 12345678”</a:t>
            </a:r>
            <a:endParaRPr lang="en-US" sz="1300" dirty="0"/>
          </a:p>
        </p:txBody>
      </p:sp>
      <p:sp>
        <p:nvSpPr>
          <p:cNvPr id="22" name="Text 20"/>
          <p:cNvSpPr/>
          <p:nvPr>
            <p:custDataLst>
              <p:tags r:id="rId6"/>
            </p:custDataLst>
          </p:nvPr>
        </p:nvSpPr>
        <p:spPr>
          <a:xfrm>
            <a:off x="6172200" y="398678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>
            <p:custDataLst>
              <p:tags r:id="rId7"/>
            </p:custDataLst>
          </p:nvPr>
        </p:nvSpPr>
        <p:spPr>
          <a:xfrm>
            <a:off x="6537960" y="3895344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return schema  </a:t>
            </a:r>
            <a:r>
              <a:rPr lang="en-US" sz="13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so the caller knows the output shape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26480" y="4709160"/>
            <a:ext cx="5486400" cy="914400"/>
          </a:xfrm>
          <a:prstGeom prst="roundRect">
            <a:avLst>
              <a:gd name="adj" fmla="val 8000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470916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tool specs generated and validated on the first try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pic>
        <p:nvPicPr>
          <p:cNvPr id="27" name="Picture 26" descr="Screenshot 2026-06-02 at 6.53.08 P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2863850"/>
            <a:ext cx="6172835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 2" descr="Screenshot 2026-06-02 at 8.01.00 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2735"/>
            <a:ext cx="7586345" cy="324802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9710" y="-127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</a:t>
            </a: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</a:t>
            </a:r>
            <a:endParaRPr lang="en-US" sz="1200" b="1" kern="0" spc="300" dirty="0">
              <a:solidFill>
                <a:srgbClr val="1C729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6" name="Picture 5" descr="Screenshot 2026-06-02 at 8.12.26 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080" y="3609340"/>
            <a:ext cx="7487920" cy="3248660"/>
          </a:xfrm>
          <a:prstGeom prst="rect">
            <a:avLst/>
          </a:prstGeom>
        </p:spPr>
      </p:pic>
      <p:pic>
        <p:nvPicPr>
          <p:cNvPr id="7" name="Picture 6" descr="Screenshot 2026-06-02 at 8.46.17 P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080" y="1337310"/>
            <a:ext cx="7487285" cy="1455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HOW DOES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 Optimizer: a 4-step loop, ≤ 3 rounds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5" name="Text 3"/>
          <p:cNvSpPr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  </a:t>
            </a: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deliberately tricky prompts — never echo the param names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8" name="Text 6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496312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 </a:t>
            </a: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competes against the other 10; judge name + args + types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09544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548640" y="32095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09544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  </a:t>
            </a: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names the exact field at fault + a fix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502920" cy="50292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4" name="Text 12"/>
          <p:cNvSpPr/>
          <p:nvPr/>
        </p:nvSpPr>
        <p:spPr>
          <a:xfrm>
            <a:off x="548640" y="39227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922776"/>
            <a:ext cx="5029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  </a:t>
            </a: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ONLY that one field, then re-loop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4754880"/>
            <a:ext cx="5760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the assignment verbatim:  </a:t>
            </a: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“check right tool name, right arguments, right types”</a:t>
            </a: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r>
              <a:rPr lang="en-US" sz="12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“rewrite only that part.”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0" y="1737360"/>
            <a:ext cx="5029200" cy="4114800"/>
          </a:xfrm>
          <a:prstGeom prst="roundRect">
            <a:avLst>
              <a:gd name="adj" fmla="val 1778"/>
            </a:avLst>
          </a:prstGeom>
          <a:solidFill>
            <a:srgbClr val="0F1430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8745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loop — compute_tanimoto_similarity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12280" y="233172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0   </a:t>
            </a:r>
            <a:r>
              <a:rPr lang="en-US" sz="1300" dirty="0">
                <a:solidFill>
                  <a:srgbClr val="E08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5 correct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95160" y="262432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prompts went to the wrong tool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12280" y="29718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diagnose → </a:t>
            </a:r>
            <a:r>
              <a:rPr lang="en-US" sz="11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blamed_field = description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12280" y="32735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6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rewrite  → </a:t>
            </a:r>
            <a:r>
              <a:rPr lang="en-US" sz="1150" dirty="0">
                <a:solidFill>
                  <a:srgbClr val="C9D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“two </a:t>
            </a:r>
            <a:r>
              <a:rPr lang="en-US" sz="1150" b="1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specific</a:t>
            </a:r>
            <a:r>
              <a:rPr lang="en-US" sz="1150" dirty="0">
                <a:solidFill>
                  <a:srgbClr val="C9D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molecules,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635240" y="3547872"/>
            <a:ext cx="3749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9D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ibuprofen &amp; naproxen”  (one field only)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995160" y="3858768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re-loop on the same prompts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12280" y="4206240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Round 1   </a:t>
            </a:r>
            <a:r>
              <a:rPr lang="en-US" sz="1300" dirty="0">
                <a:solidFill>
                  <a:srgbClr val="7F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5 correct</a:t>
            </a:r>
            <a:r>
              <a:rPr lang="en-US" sz="1300" b="1" dirty="0">
                <a:solidFill>
                  <a:srgbClr val="7FE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✓ stop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12280" y="4709160"/>
            <a:ext cx="457200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846320"/>
            <a:ext cx="4572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EB3C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on held-out prompts:  </a:t>
            </a:r>
            <a:r>
              <a:rPr lang="en-US" sz="2200" b="1" dirty="0">
                <a:solidFill>
                  <a:srgbClr val="E08A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60%</a:t>
            </a:r>
            <a:r>
              <a:rPr lang="en-US" sz="1600" dirty="0">
                <a:solidFill>
                  <a:srgbClr val="9EB3C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→ </a:t>
            </a:r>
            <a:r>
              <a:rPr lang="en-US" sz="2200" b="1" dirty="0">
                <a:solidFill>
                  <a:srgbClr val="2E8B6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80%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DOES IT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Before / after — and why the headline is misleading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83080"/>
            <a:ext cx="4114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EB3C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89.1%</a:t>
            </a:r>
            <a:r>
              <a:rPr lang="en-US" sz="2200" dirty="0">
                <a:solidFill>
                  <a:srgbClr val="6B7689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→ </a:t>
            </a:r>
            <a:r>
              <a:rPr lang="en-US" sz="3000" b="1" dirty="0">
                <a:solidFill>
                  <a:srgbClr val="065A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90.9%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  ·   +1.8 pp   ·   0 regressed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645920"/>
            <a:ext cx="6766560" cy="1417320"/>
          </a:xfrm>
          <a:prstGeom prst="roundRect">
            <a:avLst>
              <a:gd name="adj" fmla="val 5161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1645920"/>
            <a:ext cx="640080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0A45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My reaction:  </a:t>
            </a:r>
            <a:r>
              <a:rPr lang="en-US" sz="1800" i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“+1.8 pp — does that actually prove the Optimizer works?”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behind it — baseline accuracy of all 11 specs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685032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rank_drug_compounds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49040" y="3712464"/>
            <a:ext cx="4572000" cy="237744"/>
          </a:xfrm>
          <a:prstGeom prst="rect">
            <a:avLst/>
          </a:prstGeom>
          <a:solidFill>
            <a:srgbClr val="E2E8EE"/>
          </a:solidFill>
        </p:spPr>
      </p:sp>
      <p:sp>
        <p:nvSpPr>
          <p:cNvPr id="12" name="Shape 10"/>
          <p:cNvSpPr/>
          <p:nvPr/>
        </p:nvSpPr>
        <p:spPr>
          <a:xfrm>
            <a:off x="3749040" y="3712464"/>
            <a:ext cx="1828800" cy="237744"/>
          </a:xfrm>
          <a:prstGeom prst="rect">
            <a:avLst/>
          </a:prstGeom>
          <a:solidFill>
            <a:srgbClr val="C44536"/>
          </a:solidFill>
        </p:spPr>
      </p:sp>
      <p:sp>
        <p:nvSpPr>
          <p:cNvPr id="13" name="Text 11"/>
          <p:cNvSpPr/>
          <p:nvPr/>
        </p:nvSpPr>
        <p:spPr>
          <a:xfrm>
            <a:off x="8412480" y="368503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06908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compute_tanimoto_similarity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749040" y="4096512"/>
            <a:ext cx="4572000" cy="237744"/>
          </a:xfrm>
          <a:prstGeom prst="rect">
            <a:avLst/>
          </a:prstGeom>
          <a:solidFill>
            <a:srgbClr val="E2E8EE"/>
          </a:solidFill>
        </p:spPr>
      </p:sp>
      <p:sp>
        <p:nvSpPr>
          <p:cNvPr id="16" name="Shape 14"/>
          <p:cNvSpPr/>
          <p:nvPr/>
        </p:nvSpPr>
        <p:spPr>
          <a:xfrm>
            <a:off x="3749040" y="4096512"/>
            <a:ext cx="2743200" cy="237744"/>
          </a:xfrm>
          <a:prstGeom prst="rect">
            <a:avLst/>
          </a:prstGeom>
          <a:solidFill>
            <a:srgbClr val="E0A458"/>
          </a:solidFill>
        </p:spPr>
      </p:sp>
      <p:sp>
        <p:nvSpPr>
          <p:cNvPr id="17" name="Text 15"/>
          <p:cNvSpPr/>
          <p:nvPr/>
        </p:nvSpPr>
        <p:spPr>
          <a:xfrm>
            <a:off x="8412480" y="406908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4453128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fetch_pubmed_abstract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749040" y="4480560"/>
            <a:ext cx="4572000" cy="237744"/>
          </a:xfrm>
          <a:prstGeom prst="rect">
            <a:avLst/>
          </a:prstGeom>
          <a:solidFill>
            <a:srgbClr val="E2E8EE"/>
          </a:solidFill>
        </p:spPr>
      </p:sp>
      <p:sp>
        <p:nvSpPr>
          <p:cNvPr id="20" name="Shape 18"/>
          <p:cNvSpPr/>
          <p:nvPr/>
        </p:nvSpPr>
        <p:spPr>
          <a:xfrm>
            <a:off x="3749040" y="4480560"/>
            <a:ext cx="3657600" cy="237744"/>
          </a:xfrm>
          <a:prstGeom prst="rect">
            <a:avLst/>
          </a:prstGeom>
          <a:solidFill>
            <a:srgbClr val="E0A458"/>
          </a:solidFill>
        </p:spPr>
      </p:sp>
      <p:sp>
        <p:nvSpPr>
          <p:cNvPr id="21" name="Text 19"/>
          <p:cNvSpPr/>
          <p:nvPr/>
        </p:nvSpPr>
        <p:spPr>
          <a:xfrm>
            <a:off x="8412480" y="44531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4837176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other tools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749040" y="4864608"/>
            <a:ext cx="4572000" cy="237744"/>
          </a:xfrm>
          <a:prstGeom prst="rect">
            <a:avLst/>
          </a:prstGeom>
          <a:solidFill>
            <a:srgbClr val="E2E8EE"/>
          </a:solidFill>
        </p:spPr>
      </p:sp>
      <p:sp>
        <p:nvSpPr>
          <p:cNvPr id="24" name="Shape 22"/>
          <p:cNvSpPr/>
          <p:nvPr/>
        </p:nvSpPr>
        <p:spPr>
          <a:xfrm>
            <a:off x="3749040" y="4864608"/>
            <a:ext cx="4572000" cy="237744"/>
          </a:xfrm>
          <a:prstGeom prst="rect">
            <a:avLst/>
          </a:prstGeom>
          <a:solidFill>
            <a:srgbClr val="2E8B6F"/>
          </a:solidFill>
        </p:spPr>
      </p:sp>
      <p:sp>
        <p:nvSpPr>
          <p:cNvPr id="25" name="Text 23"/>
          <p:cNvSpPr/>
          <p:nvPr/>
        </p:nvSpPr>
        <p:spPr>
          <a:xfrm>
            <a:off x="8412480" y="48371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9326880" y="365760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EAF5EF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26880" y="3822192"/>
            <a:ext cx="2286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B6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8 / 11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326880" y="4343400"/>
            <a:ext cx="22860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at 100%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ceiling effect: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fix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small gain isn’t weakness — it’s two things:  </a:t>
            </a: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the Discoverer was already strong, and  (2) the few failures left are non-spec problems </a:t>
            </a:r>
            <a:r>
              <a:rPr lang="en-US" sz="125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rank_drug_compounds: the user never supplies the data).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</a:t>
            </a: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</a:t>
            </a:r>
            <a:endParaRPr lang="en-US" sz="1200" b="1" kern="0" spc="300" dirty="0">
              <a:solidFill>
                <a:srgbClr val="1C729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So I injected fixable bugs — 66 controlled cells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5544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THINKING  </a:t>
            </a: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natural specs are too clean, manufacture damage and see what the Optimizer recovers.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scenario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212080" y="2331720"/>
            <a:ext cx="21945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damaged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0" y="23317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recovered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679192"/>
            <a:ext cx="9235440" cy="420624"/>
          </a:xfrm>
          <a:prstGeom prst="rect">
            <a:avLst/>
          </a:prstGeom>
          <a:solidFill>
            <a:srgbClr val="FBEDE9"/>
          </a:solidFill>
        </p:spPr>
      </p:sp>
      <p:sp>
        <p:nvSpPr>
          <p:cNvPr id="10" name="Text 8"/>
          <p:cNvSpPr/>
          <p:nvPr/>
        </p:nvSpPr>
        <p:spPr>
          <a:xfrm>
            <a:off x="822960" y="267919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wrong_type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12080" y="2679192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0" y="2679192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127248"/>
            <a:ext cx="9235440" cy="420624"/>
          </a:xfrm>
          <a:prstGeom prst="rect">
            <a:avLst/>
          </a:prstGeom>
          <a:solidFill>
            <a:srgbClr val="FBEDE9"/>
          </a:solidFill>
        </p:spPr>
      </p:sp>
      <p:sp>
        <p:nvSpPr>
          <p:cNvPr id="14" name="Text 12"/>
          <p:cNvSpPr/>
          <p:nvPr/>
        </p:nvSpPr>
        <p:spPr>
          <a:xfrm>
            <a:off x="822960" y="3127248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wrong_type + empty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12080" y="3127248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0" y="3127248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575304"/>
            <a:ext cx="9235440" cy="420624"/>
          </a:xfrm>
          <a:prstGeom prst="rect">
            <a:avLst/>
          </a:prstGeom>
          <a:solidFill>
            <a:srgbClr val="FBEDE9"/>
          </a:solidFill>
        </p:spPr>
      </p:sp>
      <p:sp>
        <p:nvSpPr>
          <p:cNvPr id="18" name="Text 16"/>
          <p:cNvSpPr/>
          <p:nvPr/>
        </p:nvSpPr>
        <p:spPr>
          <a:xfrm>
            <a:off x="822960" y="3575304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wrong_type + misleading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3575304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3575304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4023360"/>
            <a:ext cx="9235440" cy="420624"/>
          </a:xfrm>
          <a:prstGeom prst="rect">
            <a:avLst/>
          </a:prstGeom>
          <a:solidFill>
            <a:srgbClr val="F1F4F7"/>
          </a:solidFill>
        </p:spPr>
      </p:sp>
      <p:sp>
        <p:nvSpPr>
          <p:cNvPr id="22" name="Text 20"/>
          <p:cNvSpPr/>
          <p:nvPr/>
        </p:nvSpPr>
        <p:spPr>
          <a:xfrm>
            <a:off x="822960" y="4023360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wrong_param_name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4023360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11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0" y="4023360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4471416"/>
            <a:ext cx="9235440" cy="420624"/>
          </a:xfrm>
          <a:prstGeom prst="rect">
            <a:avLst/>
          </a:prstGeom>
          <a:solidFill>
            <a:srgbClr val="F1F4F7"/>
          </a:solidFill>
        </p:spPr>
      </p:sp>
      <p:sp>
        <p:nvSpPr>
          <p:cNvPr id="26" name="Text 24"/>
          <p:cNvSpPr/>
          <p:nvPr/>
        </p:nvSpPr>
        <p:spPr>
          <a:xfrm>
            <a:off x="822960" y="4471416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misleading_description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12080" y="4471416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4471416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919472"/>
            <a:ext cx="9235440" cy="420624"/>
          </a:xfrm>
          <a:prstGeom prst="rect">
            <a:avLst/>
          </a:prstGeom>
          <a:solidFill>
            <a:srgbClr val="F1F4F7"/>
          </a:solidFill>
        </p:spPr>
      </p:sp>
      <p:sp>
        <p:nvSpPr>
          <p:cNvPr id="30" name="Text 28"/>
          <p:cNvSpPr/>
          <p:nvPr/>
        </p:nvSpPr>
        <p:spPr>
          <a:xfrm>
            <a:off x="822960" y="4919472"/>
            <a:ext cx="4389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6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add_fake_required_param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12080" y="4919472"/>
            <a:ext cx="219456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/ 11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0" y="4919472"/>
            <a:ext cx="237744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104120" y="2331720"/>
            <a:ext cx="1691640" cy="2651760"/>
          </a:xfrm>
          <a:prstGeom prst="roundRect">
            <a:avLst>
              <a:gd name="adj" fmla="val 4324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0104120" y="2514600"/>
            <a:ext cx="1691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104120" y="2852928"/>
            <a:ext cx="1691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A45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1 of 6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10104120" y="3566160"/>
            <a:ext cx="16916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types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damage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0080" y="512064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errors break 7/11 — Optimizer recovers all 7. </a:t>
            </a: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others? The LLM just absorbs them.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40080" y="55321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0F1430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822960" y="565099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057400" y="5532120"/>
            <a:ext cx="9601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C9D6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convert_gene_symbol_to_ensembl_id:  </a:t>
            </a:r>
            <a:r>
              <a:rPr lang="en-US" sz="11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</a:t>
            </a:r>
            <a:r>
              <a:rPr lang="en-US" sz="11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parameters[0].type</a:t>
            </a:r>
            <a:r>
              <a:rPr lang="en-US" sz="11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string→integer  →  </a:t>
            </a:r>
            <a:r>
              <a:rPr lang="en-US" sz="115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1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150" b="1" dirty="0">
                <a:solidFill>
                  <a:srgbClr val="E08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</a:t>
            </a:r>
            <a:r>
              <a:rPr lang="en-US" sz="1150" dirty="0">
                <a:solidFill>
                  <a:srgbClr val="9EB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Optimizer fixes that one field → </a:t>
            </a:r>
            <a:r>
              <a:rPr lang="en-US" sz="1150" b="1" dirty="0">
                <a:solidFill>
                  <a:srgbClr val="7FE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WHAT I LEARNED  ·  KEY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LLM tolerance to spec defects is wildly asymmetric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7498080" cy="841248"/>
          </a:xfrm>
          <a:prstGeom prst="roundRect">
            <a:avLst>
              <a:gd name="adj" fmla="val 6522"/>
            </a:avLst>
          </a:prstGeom>
          <a:solidFill>
            <a:srgbClr val="2A1714"/>
          </a:solidFill>
          <a:ln w="19050">
            <a:solidFill>
              <a:srgbClr val="C445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7432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error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66160" y="203911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CATASTROPHIC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566160" y="234086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7/11 tools crash, −58 pp avg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71216"/>
            <a:ext cx="7498080" cy="841248"/>
          </a:xfrm>
          <a:prstGeom prst="roundRect">
            <a:avLst>
              <a:gd name="adj" fmla="val 6522"/>
            </a:avLst>
          </a:prstGeom>
          <a:solidFill>
            <a:srgbClr val="172046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71216"/>
            <a:ext cx="27432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param name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66160" y="2990088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329184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infers from the description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7498080" cy="841248"/>
          </a:xfrm>
          <a:prstGeom prst="roundRect">
            <a:avLst>
              <a:gd name="adj" fmla="val 6522"/>
            </a:avLst>
          </a:prstGeom>
          <a:solidFill>
            <a:srgbClr val="172046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22192"/>
            <a:ext cx="27432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description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3941064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66160" y="4242816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infers from the tool name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73168"/>
            <a:ext cx="7498080" cy="841248"/>
          </a:xfrm>
          <a:prstGeom prst="roundRect">
            <a:avLst>
              <a:gd name="adj" fmla="val 6522"/>
            </a:avLst>
          </a:prstGeom>
          <a:solidFill>
            <a:srgbClr val="172046"/>
          </a:solidFill>
          <a:ln w="12700">
            <a:solidFill>
              <a:srgbClr val="2E3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773168"/>
            <a:ext cx="274320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parameter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4892040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8F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SILENTLY IGNORED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66160" y="5193792"/>
            <a:ext cx="42062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just drops the extra arg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321040" y="1920240"/>
            <a:ext cx="3291840" cy="3566160"/>
          </a:xfrm>
          <a:prstGeom prst="roundRect">
            <a:avLst>
              <a:gd name="adj" fmla="val 2222"/>
            </a:avLst>
          </a:prstGeom>
          <a:solidFill>
            <a:srgbClr val="065A82"/>
          </a:solidFill>
        </p:spPr>
      </p:sp>
      <p:sp>
        <p:nvSpPr>
          <p:cNvPr id="21" name="Text 19"/>
          <p:cNvSpPr/>
          <p:nvPr/>
        </p:nvSpPr>
        <p:spPr>
          <a:xfrm>
            <a:off x="8595360" y="21031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0" y="2514600"/>
            <a:ext cx="2743200" cy="2834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has </a:t>
            </a:r>
            <a:r>
              <a:rPr lang="en-US" sz="13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signals</a:t>
            </a:r>
            <a:r>
              <a:rPr lang="en-US" sz="13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tool name + parameter list — so it self-heals any single missing one.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 wrong 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r>
              <a:rPr lang="en-US" sz="13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cannot be worked around.</a:t>
            </a: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endParaRPr lang="en-US" sz="13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scopes the Optimizer’s value precisely to type errors — narrow, but 100% there.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5897880"/>
            <a:ext cx="7498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in itself — not all spec fields carry equal weight.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DOES IT WORK  ·  LAYER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Then it backfired — and I built a guard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5544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THINKING  </a:t>
            </a: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4 overlapping tools so “pick the right tool” is finally under real pressure (15-tool competition).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3035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guard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81635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confusable tools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2852928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E2E8EE"/>
          </a:solidFill>
        </p:spPr>
      </p:sp>
      <p:sp>
        <p:nvSpPr>
          <p:cNvPr id="9" name="Shape 7"/>
          <p:cNvSpPr/>
          <p:nvPr/>
        </p:nvSpPr>
        <p:spPr>
          <a:xfrm>
            <a:off x="3017520" y="2852928"/>
            <a:ext cx="1850746" cy="256032"/>
          </a:xfrm>
          <a:prstGeom prst="roundRect">
            <a:avLst>
              <a:gd name="adj" fmla="val 17857"/>
            </a:avLst>
          </a:prstGeom>
          <a:solidFill>
            <a:srgbClr val="C44536"/>
          </a:solidFill>
        </p:spPr>
      </p:sp>
      <p:sp>
        <p:nvSpPr>
          <p:cNvPr id="10" name="Text 8"/>
          <p:cNvSpPr/>
          <p:nvPr/>
        </p:nvSpPr>
        <p:spPr>
          <a:xfrm>
            <a:off x="5193792" y="281635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spec diverged 80% → 20% across 3 unchecked rounds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Do-No-Harm Guard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4187952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confusable tools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017520" y="4224528"/>
            <a:ext cx="2103120" cy="256032"/>
          </a:xfrm>
          <a:prstGeom prst="roundRect">
            <a:avLst>
              <a:gd name="adj" fmla="val 17857"/>
            </a:avLst>
          </a:prstGeom>
          <a:solidFill>
            <a:srgbClr val="E2E8EE"/>
          </a:solidFill>
        </p:spPr>
      </p:sp>
      <p:sp>
        <p:nvSpPr>
          <p:cNvPr id="15" name="Shape 13"/>
          <p:cNvSpPr/>
          <p:nvPr/>
        </p:nvSpPr>
        <p:spPr>
          <a:xfrm>
            <a:off x="3017520" y="4224528"/>
            <a:ext cx="1997964" cy="256032"/>
          </a:xfrm>
          <a:prstGeom prst="roundRect">
            <a:avLst>
              <a:gd name="adj" fmla="val 17857"/>
            </a:avLst>
          </a:prstGeom>
          <a:solidFill>
            <a:srgbClr val="2E8B6F"/>
          </a:solidFill>
        </p:spPr>
      </p:sp>
      <p:sp>
        <p:nvSpPr>
          <p:cNvPr id="16" name="Text 14"/>
          <p:cNvSpPr/>
          <p:nvPr/>
        </p:nvSpPr>
        <p:spPr>
          <a:xfrm>
            <a:off x="5193792" y="4187952"/>
            <a:ext cx="8229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re-test each rewrite before commit; reject anything that regresses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0" y="24231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251460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08A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−2.5 pp</a:t>
            </a:r>
            <a:r>
              <a:rPr lang="en-US" sz="2000" dirty="0">
                <a:solidFill>
                  <a:srgbClr val="9EB3C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   →   </a:t>
            </a:r>
            <a:r>
              <a:rPr lang="en-US" sz="2600" b="1" dirty="0">
                <a:solidFill>
                  <a:srgbClr val="7FE0B0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+5.0 pp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29400" y="32004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regressions  ·  runtime 222 s → 12.5 s (~18×)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3977640"/>
            <a:ext cx="5212080" cy="1828800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29400" y="4114800"/>
            <a:ext cx="475488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diverged — a different failure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29400" y="4480560"/>
            <a:ext cx="475488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intrinsically similar tools have no single “correct” description. Each rewrite perturbs behaviour, so edits diverge instead of converge. A type error has one right answer; semantic confusion does not.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WHAT I LEARNED  ·  THE BOUNDARY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Is +1.8pp just a ceiling effect? I tested both ends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566928"/>
          </a:xfrm>
          <a:prstGeom prst="roundRect">
            <a:avLst>
              <a:gd name="adj" fmla="val 50000"/>
            </a:avLst>
          </a:prstGeom>
          <a:solidFill>
            <a:srgbClr val="21295C"/>
          </a:solidFill>
        </p:spPr>
      </p:sp>
      <p:sp>
        <p:nvSpPr>
          <p:cNvPr id="5" name="Text 3"/>
          <p:cNvSpPr/>
          <p:nvPr/>
        </p:nvSpPr>
        <p:spPr>
          <a:xfrm>
            <a:off x="777240" y="1554480"/>
            <a:ext cx="10607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THINKING  </a:t>
            </a: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specs WORSE on purpose — from the input side (B1) and the Discoverer side (B2).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420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line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0779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desc + few-shot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383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89.1% → 90.9%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+1.8 pp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777240" y="4572000"/>
            <a:ext cx="3200400" cy="0"/>
          </a:xfrm>
          <a:prstGeom prst="line">
            <a:avLst/>
          </a:prstGeom>
          <a:noFill/>
          <a:ln w="12700">
            <a:solidFill>
              <a:srgbClr val="CBD5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681728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ceiling — little to fix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251960" y="23774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BEDE9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480560" y="25420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· weak input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290779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descriptions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480560" y="3383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89% → 64%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480560" y="3840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445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+0.0 pp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4480560" y="4572000"/>
            <a:ext cx="3200400" cy="0"/>
          </a:xfrm>
          <a:prstGeom prst="line">
            <a:avLst/>
          </a:prstGeom>
          <a:noFill/>
          <a:ln w="12700">
            <a:solidFill>
              <a:srgbClr val="CBD5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681728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compare_items: 4/5 prompts stolen by specialist tools — unfixable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55280" y="23774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EAF5EF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183880" y="25420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· weak Discoverer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83880" y="2907792"/>
            <a:ext cx="32004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desc, zero-shot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83880" y="338328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→ 76.4%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183880" y="384048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8B6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+5.5 pp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8183880" y="4572000"/>
            <a:ext cx="3200400" cy="0"/>
          </a:xfrm>
          <a:prstGeom prst="line">
            <a:avLst/>
          </a:prstGeom>
          <a:noFill/>
          <a:ln w="12700">
            <a:solidFill>
              <a:srgbClr val="CBD5D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4681728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fixed, structural flagged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boundary from two directions: </a:t>
            </a: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fixes </a:t>
            </a:r>
            <a:r>
              <a:rPr lang="en-US" sz="1350" b="1" dirty="0">
                <a:solidFill>
                  <a:srgbClr val="2E8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</a:t>
            </a: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defects; </a:t>
            </a:r>
            <a:r>
              <a:rPr lang="en-US" sz="135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r>
              <a:rPr lang="en-US" sz="13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defects need a redesign, not a rewrite.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WHAT I LEARNED  ·  THE PAYOFF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I made the system know its own boundary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trap I hit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19456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tests itself with prompts it wrote </a:t>
            </a: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r>
              <a:rPr lang="en-US" sz="13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spec — so they flatter it.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288036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EB3C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compare_items:  </a:t>
            </a:r>
            <a:r>
              <a:rPr lang="en-US" sz="1800" b="1" dirty="0">
                <a:solidFill>
                  <a:srgbClr val="7FE0B0"/>
                </a:solidFill>
              </a:rPr>
              <a:t>100%</a:t>
            </a:r>
            <a:r>
              <a:rPr lang="en-US" sz="1300" dirty="0">
                <a:solidFill>
                  <a:srgbClr val="9EB3C2"/>
                </a:solidFill>
              </a:rPr>
              <a:t> self-test  vs  </a:t>
            </a:r>
            <a:r>
              <a:rPr lang="en-US" sz="1800" b="1" dirty="0">
                <a:solidFill>
                  <a:srgbClr val="E08A82"/>
                </a:solidFill>
              </a:rPr>
              <a:t>20%</a:t>
            </a:r>
            <a:r>
              <a:rPr lang="en-US" sz="1300" dirty="0">
                <a:solidFill>
                  <a:srgbClr val="9EB3C2"/>
                </a:solidFill>
              </a:rPr>
              <a:t> held-out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486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judge needs_redesign on a held-out prompt set, never on self-tests.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AF5EF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45262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8B6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3 / 5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48640" y="51206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defects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flagged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83280" y="434340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452628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5A82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0 / 1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383280" y="51206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(healthy control)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178308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end states it never confuses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0" y="22860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286000"/>
            <a:ext cx="109728" cy="1005840"/>
          </a:xfrm>
          <a:prstGeom prst="rect">
            <a:avLst/>
          </a:prstGeom>
          <a:solidFill>
            <a:srgbClr val="2E8B6F"/>
          </a:solidFill>
        </p:spPr>
      </p:sp>
      <p:sp>
        <p:nvSpPr>
          <p:cNvPr id="18" name="Text 16"/>
          <p:cNvSpPr/>
          <p:nvPr/>
        </p:nvSpPr>
        <p:spPr>
          <a:xfrm>
            <a:off x="6675120" y="2423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target_reached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81635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34290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3429000"/>
            <a:ext cx="109728" cy="100584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22" name="Text 20"/>
          <p:cNvSpPr/>
          <p:nvPr/>
        </p:nvSpPr>
        <p:spPr>
          <a:xfrm>
            <a:off x="6675120" y="3566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no_harm_guard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75120" y="395935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change would regress — stop safely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4572000"/>
            <a:ext cx="5212080" cy="1005840"/>
          </a:xfrm>
          <a:prstGeom prst="roundRect">
            <a:avLst>
              <a:gd name="adj" fmla="val 7273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4572000"/>
            <a:ext cx="109728" cy="1005840"/>
          </a:xfrm>
          <a:prstGeom prst="rect">
            <a:avLst/>
          </a:prstGeom>
          <a:solidFill>
            <a:srgbClr val="E0A458"/>
          </a:solidFill>
        </p:spPr>
      </p:sp>
      <p:sp>
        <p:nvSpPr>
          <p:cNvPr id="26" name="Text 24"/>
          <p:cNvSpPr/>
          <p:nvPr/>
        </p:nvSpPr>
        <p:spPr>
          <a:xfrm>
            <a:off x="6675120" y="470916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needs_redesign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75120" y="510235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mine to fix — send back to Discoverer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WHAT I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36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What actually makes a tool spec “good”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457200" cy="457200"/>
          </a:xfrm>
          <a:prstGeom prst="ellipse">
            <a:avLst/>
          </a:prstGeom>
          <a:solidFill>
            <a:srgbClr val="2E8B6F"/>
          </a:solidFill>
        </p:spPr>
      </p:sp>
      <p:sp>
        <p:nvSpPr>
          <p:cNvPr id="6" name="Text 4"/>
          <p:cNvSpPr/>
          <p:nvPr/>
        </p:nvSpPr>
        <p:spPr>
          <a:xfrm>
            <a:off x="777240" y="26060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types first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2004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field the LLM can’t infer around. Get types right before anything else.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011680"/>
            <a:ext cx="457200" cy="457200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10" name="Text 8"/>
          <p:cNvSpPr/>
          <p:nvPr/>
        </p:nvSpPr>
        <p:spPr>
          <a:xfrm>
            <a:off x="4526280" y="26060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Distinctiveness &gt; prose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32004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must be separable. A beautiful description loses to a name clash.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7830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8EEF2"/>
          </a:solidFill>
          <a:effectLst>
            <a:outerShdw blurRad="88900" dist="38100" dir="8100000" algn="bl" rotWithShape="0">
              <a:srgbClr val="222222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75320" y="2011680"/>
            <a:ext cx="457200" cy="457200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4" name="Text 12"/>
          <p:cNvSpPr/>
          <p:nvPr/>
        </p:nvSpPr>
        <p:spPr>
          <a:xfrm>
            <a:off x="8275320" y="2606040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signals help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20040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params + description give the LLM fallback paths — lean on them.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445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the Optimizer could NOT fix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4608576"/>
            <a:ext cx="237744" cy="237744"/>
          </a:xfrm>
          <a:prstGeom prst="ellipse">
            <a:avLst/>
          </a:prstGeom>
          <a:solidFill>
            <a:srgbClr val="C44536"/>
          </a:solidFill>
        </p:spPr>
      </p:sp>
      <p:sp>
        <p:nvSpPr>
          <p:cNvPr id="18" name="Text 16"/>
          <p:cNvSpPr/>
          <p:nvPr/>
        </p:nvSpPr>
        <p:spPr>
          <a:xfrm>
            <a:off x="594360" y="46085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52628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user data  </a:t>
            </a:r>
            <a:r>
              <a:rPr lang="en-US" sz="13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rank_drug_compounds stuck at 40% — the prompt has no scores to pass.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5111496"/>
            <a:ext cx="237744" cy="237744"/>
          </a:xfrm>
          <a:prstGeom prst="ellipse">
            <a:avLst/>
          </a:prstGeom>
          <a:solidFill>
            <a:srgbClr val="C44536"/>
          </a:solidFill>
        </p:spPr>
      </p:sp>
      <p:sp>
        <p:nvSpPr>
          <p:cNvPr id="21" name="Text 19"/>
          <p:cNvSpPr/>
          <p:nvPr/>
        </p:nvSpPr>
        <p:spPr>
          <a:xfrm>
            <a:off x="594360" y="511149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0120" y="502920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refusal  </a:t>
            </a:r>
            <a:r>
              <a:rPr lang="en-US" sz="13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ambiguous query + no data → the LLM refuses to call anything. Needs dialogue, not a rewrite.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5614416"/>
            <a:ext cx="237744" cy="237744"/>
          </a:xfrm>
          <a:prstGeom prst="ellipse">
            <a:avLst/>
          </a:prstGeom>
          <a:solidFill>
            <a:srgbClr val="C44536"/>
          </a:solidFill>
        </p:spPr>
      </p:sp>
      <p:sp>
        <p:nvSpPr>
          <p:cNvPr id="24" name="Text 22"/>
          <p:cNvSpPr/>
          <p:nvPr/>
        </p:nvSpPr>
        <p:spPr>
          <a:xfrm>
            <a:off x="594360" y="561441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60120" y="5532120"/>
            <a:ext cx="10607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/ vague identity  </a:t>
            </a:r>
            <a:r>
              <a:rPr lang="en-US" sz="13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over-broad tool — needs redesign upstream, not field edits.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THREAD THAT CONNECTS IT 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How my thinking evolved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0" cy="4160520"/>
          </a:xfrm>
          <a:prstGeom prst="line">
            <a:avLst/>
          </a:prstGeom>
          <a:noFill/>
          <a:ln w="25400">
            <a:solidFill>
              <a:srgbClr val="3A4A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83080"/>
            <a:ext cx="292608" cy="29260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6" name="Text 4"/>
          <p:cNvSpPr/>
          <p:nvPr/>
        </p:nvSpPr>
        <p:spPr>
          <a:xfrm>
            <a:off x="1371600" y="172821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172821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Discoverer + Optimizer, end to 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8096" y="2386584"/>
            <a:ext cx="292608" cy="292608"/>
          </a:xfrm>
          <a:prstGeom prst="ellipse">
            <a:avLst/>
          </a:prstGeom>
          <a:solidFill>
            <a:srgbClr val="E0A458"/>
          </a:solidFill>
        </p:spPr>
      </p:sp>
      <p:sp>
        <p:nvSpPr>
          <p:cNvPr id="9" name="Text 7"/>
          <p:cNvSpPr/>
          <p:nvPr/>
        </p:nvSpPr>
        <p:spPr>
          <a:xfrm>
            <a:off x="1371600" y="23317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Doubted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97680" y="23317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“+1.8pp — is that even real?”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68096" y="2990088"/>
            <a:ext cx="292608" cy="292608"/>
          </a:xfrm>
          <a:prstGeom prst="ellipse">
            <a:avLst/>
          </a:prstGeom>
          <a:solidFill>
            <a:srgbClr val="1C7293"/>
          </a:solidFill>
        </p:spPr>
      </p:sp>
      <p:sp>
        <p:nvSpPr>
          <p:cNvPr id="12" name="Text 10"/>
          <p:cNvSpPr/>
          <p:nvPr/>
        </p:nvSpPr>
        <p:spPr>
          <a:xfrm>
            <a:off x="1371600" y="2935224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Stress-tested 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66-cell degradation → type errors 7/7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8096" y="3593592"/>
            <a:ext cx="292608" cy="292608"/>
          </a:xfrm>
          <a:prstGeom prst="ellipse">
            <a:avLst/>
          </a:prstGeom>
          <a:solidFill>
            <a:srgbClr val="C44536"/>
          </a:solidFill>
        </p:spPr>
      </p:sp>
      <p:sp>
        <p:nvSpPr>
          <p:cNvPr id="15" name="Text 13"/>
          <p:cNvSpPr/>
          <p:nvPr/>
        </p:nvSpPr>
        <p:spPr>
          <a:xfrm>
            <a:off x="1371600" y="353872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 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297680" y="353872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made it diverge −60pp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8096" y="4197096"/>
            <a:ext cx="292608" cy="292608"/>
          </a:xfrm>
          <a:prstGeom prst="ellipse">
            <a:avLst/>
          </a:prstGeom>
          <a:solidFill>
            <a:srgbClr val="2E8B6F"/>
          </a:solidFill>
        </p:spPr>
      </p:sp>
      <p:sp>
        <p:nvSpPr>
          <p:cNvPr id="18" name="Text 16"/>
          <p:cNvSpPr/>
          <p:nvPr/>
        </p:nvSpPr>
        <p:spPr>
          <a:xfrm>
            <a:off x="1371600" y="4142232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297680" y="414223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do-no-harm → +5pp, 0 regressions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8096" y="4800600"/>
            <a:ext cx="292608" cy="292608"/>
          </a:xfrm>
          <a:prstGeom prst="ellipse">
            <a:avLst/>
          </a:prstGeom>
          <a:solidFill>
            <a:srgbClr val="065A82"/>
          </a:solidFill>
        </p:spPr>
      </p:sp>
      <p:sp>
        <p:nvSpPr>
          <p:cNvPr id="21" name="Text 19"/>
          <p:cNvSpPr/>
          <p:nvPr/>
        </p:nvSpPr>
        <p:spPr>
          <a:xfrm>
            <a:off x="1371600" y="4745736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it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474573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&amp; B2 — field-level vs structural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8096" y="5404104"/>
            <a:ext cx="292608" cy="292608"/>
          </a:xfrm>
          <a:prstGeom prst="ellipse">
            <a:avLst/>
          </a:prstGeom>
          <a:solidFill>
            <a:srgbClr val="E0A458"/>
          </a:solidFill>
        </p:spPr>
      </p:sp>
      <p:sp>
        <p:nvSpPr>
          <p:cNvPr id="24" name="Text 22"/>
          <p:cNvSpPr/>
          <p:nvPr/>
        </p:nvSpPr>
        <p:spPr>
          <a:xfrm>
            <a:off x="1371600" y="534924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Taught it limits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297680" y="53492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EC0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needs_redesign: it knows what it can’t fix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deliverable isn’t “it improved accuracy.” It’s a precise map of when this kind of optimizer helps — and when it can’t.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377440"/>
            <a:ext cx="6035040" cy="6035040"/>
          </a:xfrm>
          <a:prstGeom prst="ellipse">
            <a:avLst/>
          </a:prstGeom>
          <a:solidFill>
            <a:srgbClr val="065A82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2011680" y="3657600"/>
            <a:ext cx="4937760" cy="4937760"/>
          </a:xfrm>
          <a:prstGeom prst="ellipse">
            <a:avLst/>
          </a:prstGeom>
          <a:solidFill>
            <a:srgbClr val="1C7293">
              <a:alpha val="16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Three answers, one sentence each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7680960" cy="1143000"/>
          </a:xfrm>
          <a:prstGeom prst="roundRect">
            <a:avLst>
              <a:gd name="adj" fmla="val 5600"/>
            </a:avLst>
          </a:prstGeom>
          <a:solidFill>
            <a:srgbClr val="172046"/>
          </a:solidFill>
        </p:spPr>
      </p:sp>
      <p:sp>
        <p:nvSpPr>
          <p:cNvPr id="6" name="Shape 4"/>
          <p:cNvSpPr/>
          <p:nvPr/>
        </p:nvSpPr>
        <p:spPr>
          <a:xfrm>
            <a:off x="640080" y="1783080"/>
            <a:ext cx="118872" cy="1143000"/>
          </a:xfrm>
          <a:prstGeom prst="rect">
            <a:avLst/>
          </a:prstGeom>
          <a:solidFill>
            <a:srgbClr val="065A82"/>
          </a:solidFill>
        </p:spPr>
      </p:sp>
      <p:sp>
        <p:nvSpPr>
          <p:cNvPr id="7" name="Text 5"/>
          <p:cNvSpPr/>
          <p:nvPr/>
        </p:nvSpPr>
        <p:spPr>
          <a:xfrm>
            <a:off x="914400" y="190195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286000"/>
            <a:ext cx="7223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 → Discoverer (spec + stub) → Optimizer’s 4-step loop with field-level diagnosis.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63240"/>
            <a:ext cx="7680960" cy="1143000"/>
          </a:xfrm>
          <a:prstGeom prst="roundRect">
            <a:avLst>
              <a:gd name="adj" fmla="val 5600"/>
            </a:avLst>
          </a:prstGeom>
          <a:solidFill>
            <a:srgbClr val="172046"/>
          </a:solidFill>
        </p:spPr>
      </p:sp>
      <p:sp>
        <p:nvSpPr>
          <p:cNvPr id="10" name="Shape 8"/>
          <p:cNvSpPr/>
          <p:nvPr/>
        </p:nvSpPr>
        <p:spPr>
          <a:xfrm>
            <a:off x="640080" y="3063240"/>
            <a:ext cx="118872" cy="1143000"/>
          </a:xfrm>
          <a:prstGeom prst="rect">
            <a:avLst/>
          </a:prstGeom>
          <a:solidFill>
            <a:srgbClr val="1C7293"/>
          </a:solidFill>
        </p:spPr>
      </p:sp>
      <p:sp>
        <p:nvSpPr>
          <p:cNvPr id="11" name="Text 9"/>
          <p:cNvSpPr/>
          <p:nvPr/>
        </p:nvSpPr>
        <p:spPr>
          <a:xfrm>
            <a:off x="914400" y="318211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work?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566160"/>
            <a:ext cx="7223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+1.8pp natural; type errors 7/7; confusion −2.5 → +5pp with the guard — verified from both ends.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343400"/>
            <a:ext cx="7680960" cy="1143000"/>
          </a:xfrm>
          <a:prstGeom prst="roundRect">
            <a:avLst>
              <a:gd name="adj" fmla="val 5600"/>
            </a:avLst>
          </a:prstGeom>
          <a:solidFill>
            <a:srgbClr val="172046"/>
          </a:solidFill>
        </p:spPr>
      </p:sp>
      <p:sp>
        <p:nvSpPr>
          <p:cNvPr id="14" name="Shape 12"/>
          <p:cNvSpPr/>
          <p:nvPr/>
        </p:nvSpPr>
        <p:spPr>
          <a:xfrm>
            <a:off x="640080" y="4343400"/>
            <a:ext cx="118872" cy="1143000"/>
          </a:xfrm>
          <a:prstGeom prst="rect">
            <a:avLst/>
          </a:prstGeom>
          <a:solidFill>
            <a:srgbClr val="E0A458"/>
          </a:solidFill>
        </p:spPr>
      </p:sp>
      <p:sp>
        <p:nvSpPr>
          <p:cNvPr id="15" name="Text 13"/>
          <p:cNvSpPr/>
          <p:nvPr/>
        </p:nvSpPr>
        <p:spPr>
          <a:xfrm>
            <a:off x="914400" y="4462272"/>
            <a:ext cx="7223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I learn?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846320"/>
            <a:ext cx="7223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Optimizer is scoped to field-level defects — and now it knows that, reporting needs_redesign for the rest.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595360" y="1783080"/>
            <a:ext cx="3017520" cy="3840480"/>
          </a:xfrm>
          <a:prstGeom prst="roundRect">
            <a:avLst>
              <a:gd name="adj" fmla="val 2424"/>
            </a:avLst>
          </a:prstGeom>
          <a:solidFill>
            <a:srgbClr val="065A82"/>
          </a:solidFill>
        </p:spPr>
      </p:sp>
      <p:sp>
        <p:nvSpPr>
          <p:cNvPr id="18" name="Text 16"/>
          <p:cNvSpPr/>
          <p:nvPr/>
        </p:nvSpPr>
        <p:spPr>
          <a:xfrm>
            <a:off x="8823960" y="1938528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23960" y="2377440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11+4  </a:t>
            </a:r>
            <a:r>
              <a:rPr lang="en-US" sz="1250" dirty="0">
                <a:solidFill>
                  <a:srgbClr val="AEC0CE"/>
                </a:solidFill>
              </a:rPr>
              <a:t>tools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23960" y="2999232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66  </a:t>
            </a:r>
            <a:r>
              <a:rPr lang="en-US" sz="1250" dirty="0">
                <a:solidFill>
                  <a:srgbClr val="AEC0CE"/>
                </a:solidFill>
              </a:rPr>
              <a:t>degradation cells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823960" y="3621024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  </a:t>
            </a:r>
            <a:r>
              <a:rPr lang="en-US" sz="1250" dirty="0">
                <a:solidFill>
                  <a:srgbClr val="AEC0CE"/>
                </a:solidFill>
              </a:rPr>
              <a:t>experiment phases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23960" y="4242816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100  </a:t>
            </a:r>
            <a:r>
              <a:rPr lang="en-US" sz="1250" dirty="0">
                <a:solidFill>
                  <a:srgbClr val="AEC0CE"/>
                </a:solidFill>
              </a:rPr>
              <a:t>unit tests passing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23960" y="4864608"/>
            <a:ext cx="26517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~$3  </a:t>
            </a:r>
            <a:r>
              <a:rPr lang="en-US" sz="1250" dirty="0">
                <a:solidFill>
                  <a:srgbClr val="AEC0CE"/>
                </a:solidFill>
              </a:rPr>
              <a:t>total API cost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430000" y="635508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76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22"/>
          <p:cNvSpPr/>
          <p:nvPr/>
        </p:nvSpPr>
        <p:spPr>
          <a:xfrm>
            <a:off x="3754120" y="1732915"/>
            <a:ext cx="4683760" cy="33928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i="1" dirty="0">
              <a:solidFill>
                <a:srgbClr val="E0A45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69.92,&quot;left&quot;:486,&quot;top&quot;:172.8,&quot;width&quot;:424.8}"/>
</p:tagLst>
</file>

<file path=ppt/tags/tag2.xml><?xml version="1.0" encoding="utf-8"?>
<p:tagLst xmlns:p="http://schemas.openxmlformats.org/presentationml/2006/main">
  <p:tag name="KSO_WM_DIAGRAM_VIRTUALLY_FRAME" val="{&quot;height&quot;:169.92,&quot;left&quot;:486,&quot;top&quot;:172.8,&quot;width&quot;:424.8}"/>
</p:tagLst>
</file>

<file path=ppt/tags/tag3.xml><?xml version="1.0" encoding="utf-8"?>
<p:tagLst xmlns:p="http://schemas.openxmlformats.org/presentationml/2006/main">
  <p:tag name="KSO_WM_DIAGRAM_VIRTUALLY_FRAME" val="{&quot;height&quot;:169.92,&quot;left&quot;:486,&quot;top&quot;:172.8,&quot;width&quot;:424.8}"/>
</p:tagLst>
</file>

<file path=ppt/tags/tag4.xml><?xml version="1.0" encoding="utf-8"?>
<p:tagLst xmlns:p="http://schemas.openxmlformats.org/presentationml/2006/main">
  <p:tag name="KSO_WM_DIAGRAM_VIRTUALLY_FRAME" val="{&quot;height&quot;:169.92,&quot;left&quot;:486,&quot;top&quot;:172.8,&quot;width&quot;:424.8}"/>
</p:tagLst>
</file>

<file path=ppt/tags/tag5.xml><?xml version="1.0" encoding="utf-8"?>
<p:tagLst xmlns:p="http://schemas.openxmlformats.org/presentationml/2006/main">
  <p:tag name="KSO_WM_DIAGRAM_VIRTUALLY_FRAME" val="{&quot;height&quot;:169.92,&quot;left&quot;:486,&quot;top&quot;:172.8,&quot;width&quot;:424.8}"/>
</p:tagLst>
</file>

<file path=ppt/tags/tag6.xml><?xml version="1.0" encoding="utf-8"?>
<p:tagLst xmlns:p="http://schemas.openxmlformats.org/presentationml/2006/main">
  <p:tag name="KSO_WM_DIAGRAM_VIRTUALLY_FRAME" val="{&quot;height&quot;:169.92,&quot;left&quot;:486,&quot;top&quot;:172.8,&quot;width&quot;:424.8}"/>
</p:tagLst>
</file>

<file path=ppt/tags/tag7.xml><?xml version="1.0" encoding="utf-8"?>
<p:tagLst xmlns:p="http://schemas.openxmlformats.org/presentationml/2006/main">
  <p:tag name="KSO_WM_DIAGRAM_VIRTUALLY_FRAME" val="{&quot;height&quot;:169.92,&quot;left&quot;:486,&quot;top&quot;:172.8,&quot;width&quot;:424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9223</Words>
  <Application>WPS Presentation</Application>
  <PresentationFormat>On-screen Show (16:9)</PresentationFormat>
  <Paragraphs>634</Paragraphs>
  <Slides>18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9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Georgia</vt:lpstr>
      <vt:lpstr>Georgia</vt:lpstr>
      <vt:lpstr>Georgia</vt:lpstr>
      <vt:lpstr>Consolas</vt:lpstr>
      <vt:lpstr>Consolas</vt:lpstr>
      <vt:lpstr>Consolas</vt:lpstr>
      <vt:lpstr>Microsoft YaHei</vt:lpstr>
      <vt:lpstr>汉仪旗黑</vt:lpstr>
      <vt:lpstr>Arial Unicode MS</vt:lpstr>
      <vt:lpstr>苹方-简</vt:lpstr>
      <vt:lpstr>汉仪书宋二KW</vt:lpstr>
      <vt:lpstr>Apple Color Emoji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SpecForge</dc:title>
  <dc:creator>ToolUniverse Assignment</dc:creator>
  <dc:subject>PptxGenJS Presentation</dc:subject>
  <cp:lastModifiedBy>焦柏熹</cp:lastModifiedBy>
  <cp:revision>5</cp:revision>
  <dcterms:created xsi:type="dcterms:W3CDTF">2026-07-25T07:13:24Z</dcterms:created>
  <dcterms:modified xsi:type="dcterms:W3CDTF">2026-07-25T07:13:24Z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7E0D89E19737FD111462646A49F9A8ED_43</vt:lpwstr>
  </property>
  <property fmtid="{D5CDD505-2E9C-101B-9397-08002B2CF9AE}" pid="3" name="KSOProductBuildVer">
    <vt:lpwstr>1033-12.1.25195.25195</vt:lpwstr>
  </property>
</Properties>
</file>